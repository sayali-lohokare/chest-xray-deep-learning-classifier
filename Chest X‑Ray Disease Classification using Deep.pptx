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9" r:id="rId14"/>
    <p:sldId id="268" r:id="rId15"/>
    <p:sldId id="269" r:id="rId16"/>
    <p:sldId id="270" r:id="rId17"/>
    <p:sldId id="271" r:id="rId18"/>
    <p:sldId id="272" r:id="rId19"/>
    <p:sldId id="273" r:id="rId20"/>
    <p:sldId id="276" r:id="rId21"/>
    <p:sldId id="277" r:id="rId22"/>
    <p:sldId id="278" r:id="rId23"/>
    <p:sldId id="274" r:id="rId24"/>
    <p:sldId id="27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06822-ED32-D742-E657-3F44A2D98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6" y="1964267"/>
            <a:ext cx="10502399" cy="2421464"/>
          </a:xfrm>
        </p:spPr>
        <p:txBody>
          <a:bodyPr/>
          <a:lstStyle/>
          <a:p>
            <a:r>
              <a:rPr lang="en-US" dirty="0"/>
              <a:t>Chest X‑Ray Disease Classification using Deep Learning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C56A0C-74F7-67F0-9618-7AB0527452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Name- Sayali Lohokare</a:t>
            </a:r>
            <a:br>
              <a:rPr lang="en-US" dirty="0"/>
            </a:br>
            <a:r>
              <a:rPr lang="en-US" dirty="0"/>
              <a:t>Module – CS618</a:t>
            </a:r>
            <a:br>
              <a:rPr lang="en-US" dirty="0"/>
            </a:br>
            <a:r>
              <a:rPr lang="en-US" dirty="0"/>
              <a:t>Date – 07/12/2025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1354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86999-F75D-38B6-F7B7-D379DC6A6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MOTIVATION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B7EFF-7FEB-5374-40DD-32DA1EED5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464" y="2065868"/>
            <a:ext cx="10131425" cy="2425922"/>
          </a:xfrm>
        </p:spPr>
        <p:txBody>
          <a:bodyPr/>
          <a:lstStyle/>
          <a:p>
            <a:r>
              <a:rPr lang="en-US" sz="2400" dirty="0"/>
              <a:t>Chest X‑rays are one of the most common medical imaging tests.</a:t>
            </a:r>
          </a:p>
          <a:p>
            <a:r>
              <a:rPr lang="en-US" sz="2400" dirty="0"/>
              <a:t>Subtle findings are easy to miss and radiologists have high workload.</a:t>
            </a:r>
          </a:p>
          <a:p>
            <a:r>
              <a:rPr lang="en-US" sz="2400" dirty="0"/>
              <a:t>Deep learning can help with automatic screening and decision support.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8868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B760A-1856-E541-A19A-48CA8581B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Dataset: ChestX‑ray14</a:t>
            </a:r>
            <a:br>
              <a:rPr lang="en-IN" u="sng" dirty="0"/>
            </a:b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91A38-C3B9-229E-24CC-1315CCDF8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540042"/>
            <a:ext cx="10131425" cy="2534654"/>
          </a:xfrm>
        </p:spPr>
        <p:txBody>
          <a:bodyPr/>
          <a:lstStyle/>
          <a:p>
            <a:r>
              <a:rPr lang="en-US" sz="2400" dirty="0"/>
              <a:t>NIH ChestX‑ray14: 112,120 frontal X‑rays, 30,805 patients.</a:t>
            </a:r>
          </a:p>
          <a:p>
            <a:r>
              <a:rPr lang="en-US" sz="2400" dirty="0"/>
              <a:t>14 thoracic disease labels, multi‑label (multiple diseases per image).</a:t>
            </a:r>
          </a:p>
          <a:p>
            <a:r>
              <a:rPr lang="en-US" sz="2400" dirty="0"/>
              <a:t>In this project: used the train‑small subset + validation + test splits.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5041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1E72-BD15-712E-4B3F-6C8329206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err="1"/>
              <a:t>train_df.head</a:t>
            </a:r>
            <a:r>
              <a:rPr lang="en-US" b="1" u="sng" dirty="0"/>
              <a:t>() showing Image + a few label columns</a:t>
            </a:r>
            <a:endParaRPr lang="en-IN" b="1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2EE245-F5B1-A206-CC7D-E9B791E08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81" y="2065866"/>
            <a:ext cx="11021961" cy="454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787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64A5D-E263-6F87-BFA3-E75085CB2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Project Objective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29D95-C2C1-B5B3-0423-3DF837189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671484"/>
            <a:ext cx="10131425" cy="2074606"/>
          </a:xfrm>
        </p:spPr>
        <p:txBody>
          <a:bodyPr/>
          <a:lstStyle/>
          <a:p>
            <a:r>
              <a:rPr lang="en-US" dirty="0"/>
              <a:t>Build a deep learning model to classify chest X‑rays into 14 diseases.</a:t>
            </a:r>
          </a:p>
          <a:p>
            <a:r>
              <a:rPr lang="en-US" dirty="0"/>
              <a:t>Use transfer learning under limited compute (train‑small only).</a:t>
            </a:r>
          </a:p>
          <a:p>
            <a:r>
              <a:rPr lang="en-US" dirty="0"/>
              <a:t>Achieve at least 75% test accuracy and evaluate with AUC/F1, not just accuracy.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9601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31880-4568-4648-891C-8F6E645B0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Architecture (DenseNet‑121)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2ADFA-AFDD-B40C-349A-8E633AEB0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15846"/>
            <a:ext cx="10131425" cy="3490452"/>
          </a:xfrm>
        </p:spPr>
        <p:txBody>
          <a:bodyPr/>
          <a:lstStyle/>
          <a:p>
            <a:r>
              <a:rPr lang="en-US" dirty="0"/>
              <a:t>Backbone: DenseNet‑121 pre‑trained on ImageNet.</a:t>
            </a:r>
          </a:p>
          <a:p>
            <a:r>
              <a:rPr lang="en-US" dirty="0"/>
              <a:t>Remove original classification head.</a:t>
            </a:r>
          </a:p>
          <a:p>
            <a:r>
              <a:rPr lang="en-US" dirty="0"/>
              <a:t>Add:</a:t>
            </a:r>
          </a:p>
          <a:p>
            <a:pPr lvl="1"/>
            <a:r>
              <a:rPr lang="en-US" dirty="0"/>
              <a:t>Global average pooling.</a:t>
            </a:r>
          </a:p>
          <a:p>
            <a:pPr lvl="1"/>
            <a:r>
              <a:rPr lang="en-US" dirty="0"/>
              <a:t>Dense layer with 14 sigmoid outputs (one per disease).</a:t>
            </a:r>
          </a:p>
          <a:p>
            <a:r>
              <a:rPr lang="en-US" dirty="0"/>
              <a:t>Outputs a probability for each disease per image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3044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CD9F-314A-4993-FEE4-D835CA67E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err="1"/>
              <a:t>model.summary</a:t>
            </a:r>
            <a:r>
              <a:rPr lang="en-US" b="1" u="sng" dirty="0"/>
              <a:t>() showing DenseNet‑121 and final dense(14) layer.</a:t>
            </a:r>
            <a:endParaRPr lang="en-IN" b="1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E6BF3B-12B2-8473-83D5-F36CE5E7D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684" y="2349910"/>
            <a:ext cx="9252155" cy="405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771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804C5-1F4D-6804-959B-B5938C163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Training Setup</a:t>
            </a:r>
            <a:br>
              <a:rPr lang="en-IN" dirty="0"/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AEDA79-A813-0D36-AB5C-C07FA5A7FF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1" y="1229033"/>
                <a:ext cx="10131425" cy="2861186"/>
              </a:xfrm>
            </p:spPr>
            <p:txBody>
              <a:bodyPr/>
              <a:lstStyle/>
              <a:p>
                <a:r>
                  <a:rPr lang="en-IN" dirty="0"/>
                  <a:t>Input: images resized to 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320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>
                        <a:latin typeface="Cambria Math" panose="02040503050406030204" pitchFamily="18" charset="0"/>
                      </a:rPr>
                      <m:t>320</m:t>
                    </m:r>
                  </m:oMath>
                </a14:m>
                <a:r>
                  <a:rPr lang="en-IN" dirty="0"/>
                  <a:t>, per‑image normalisation.</a:t>
                </a:r>
              </a:p>
              <a:p>
                <a:r>
                  <a:rPr lang="en-IN" dirty="0"/>
                  <a:t>Loss: class‑weighted binary cross‑entropy (handles class imbalance).</a:t>
                </a:r>
              </a:p>
              <a:p>
                <a:r>
                  <a:rPr lang="en-IN" dirty="0"/>
                  <a:t>Optimiser: Adam, small learning rate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ar-AE" dirty="0"/>
                  <a:t> →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ar-AE" dirty="0"/>
                  <a:t>).</a:t>
                </a:r>
              </a:p>
              <a:p>
                <a:r>
                  <a:rPr lang="en-IN" dirty="0"/>
                  <a:t>Early stopping on validation binary accuracy.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AEDA79-A813-0D36-AB5C-C07FA5A7FF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1" y="1229033"/>
                <a:ext cx="10131425" cy="2861186"/>
              </a:xfrm>
              <a:blipFill>
                <a:blip r:embed="rId2"/>
                <a:stretch>
                  <a:fillRect l="-4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5642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0FE13-68FE-E096-68BC-5FA95E2FE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Code snippet where you compile the model (loss/optimizer/metrics).</a:t>
            </a:r>
            <a:endParaRPr lang="en-IN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B04D47-AFF6-A4A3-1A2C-4D9D84636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032" y="2349910"/>
            <a:ext cx="9588194" cy="40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099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4EE0-CBE9-C8CE-54BA-4714566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</a:t>
            </a:r>
            <a:r>
              <a:rPr lang="en-IN" b="1" u="sng" dirty="0"/>
              <a:t>Data Augmentation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1CDD1-0D4C-147D-C8E5-5FC2D1113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786582"/>
            <a:ext cx="10131425" cy="4345858"/>
          </a:xfrm>
        </p:spPr>
        <p:txBody>
          <a:bodyPr/>
          <a:lstStyle/>
          <a:p>
            <a:r>
              <a:rPr lang="en-US" dirty="0"/>
              <a:t>Used to improve </a:t>
            </a:r>
            <a:r>
              <a:rPr lang="en-US" dirty="0" err="1"/>
              <a:t>generalisation</a:t>
            </a:r>
            <a:r>
              <a:rPr lang="en-US" dirty="0"/>
              <a:t> from train‑small:</a:t>
            </a:r>
          </a:p>
          <a:p>
            <a:pPr lvl="1"/>
            <a:r>
              <a:rPr lang="en-US" dirty="0"/>
              <a:t>Small rotations.</a:t>
            </a:r>
          </a:p>
          <a:p>
            <a:pPr lvl="1"/>
            <a:r>
              <a:rPr lang="en-US" dirty="0"/>
              <a:t>Width/height shifts.</a:t>
            </a:r>
          </a:p>
          <a:p>
            <a:pPr lvl="1"/>
            <a:r>
              <a:rPr lang="en-US" dirty="0"/>
              <a:t>Zoom.</a:t>
            </a:r>
          </a:p>
          <a:p>
            <a:pPr lvl="1"/>
            <a:r>
              <a:rPr lang="en-US" dirty="0"/>
              <a:t>Horizontal flips.</a:t>
            </a:r>
          </a:p>
          <a:p>
            <a:r>
              <a:rPr lang="en-US" dirty="0"/>
              <a:t>Makes model robust to patient positioning and imaging variation.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600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40315-BBD1-F465-0A8D-C96614C4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ImageDataGenerator</a:t>
            </a:r>
            <a:r>
              <a:rPr lang="en-US" dirty="0"/>
              <a:t> in </a:t>
            </a:r>
            <a:r>
              <a:rPr lang="en-US" dirty="0" err="1"/>
              <a:t>get_train_generator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1B859F-7E47-91A6-A56D-63481F0DD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2594"/>
            <a:ext cx="10463981" cy="421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902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C6BBB-B492-2B85-C059-DDEDB7EB1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Training Process &amp; Improvements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8C6AC-F997-6EFC-953C-22F859BAB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45807"/>
            <a:ext cx="10131425" cy="4984954"/>
          </a:xfrm>
        </p:spPr>
        <p:txBody>
          <a:bodyPr/>
          <a:lstStyle/>
          <a:p>
            <a:r>
              <a:rPr lang="en-IN" dirty="0"/>
              <a:t>Started from a simple setup: ~57% test accuracy.</a:t>
            </a:r>
          </a:p>
          <a:p>
            <a:r>
              <a:rPr lang="en-IN" dirty="0"/>
              <a:t>Added augmentation + more epochs → ~66%.</a:t>
            </a:r>
          </a:p>
          <a:p>
            <a:r>
              <a:rPr lang="en-IN" dirty="0"/>
              <a:t>Fixed steps per epoch + early stopping → ~73%.</a:t>
            </a:r>
          </a:p>
          <a:p>
            <a:r>
              <a:rPr lang="en-IN" dirty="0"/>
              <a:t>Final tweak (batch size, more training) → ~76% test accuracy.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9206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AB91F-A033-7F53-EC31-E4F6DBBB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accuracy_improvements.png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1A0E00-412A-A101-CAB5-E3A23EFCC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568" y="2212258"/>
            <a:ext cx="9901545" cy="4198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26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12030-7E92-27EA-17B5-6FDA5A652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Training log snippet or accuracy/loss plot for final run</a:t>
            </a:r>
            <a:endParaRPr lang="en-IN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442294-68EB-086E-AC71-0EA7334C3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032" y="2153265"/>
            <a:ext cx="9242323" cy="432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427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0E547-A79C-4C7B-BEFA-959A24DB4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Evaluation Metrics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FCFF4-4436-D773-BD08-2B3C948E1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609601"/>
            <a:ext cx="10131425" cy="4748980"/>
          </a:xfrm>
        </p:spPr>
        <p:txBody>
          <a:bodyPr/>
          <a:lstStyle/>
          <a:p>
            <a:r>
              <a:rPr lang="en-US" dirty="0"/>
              <a:t>Accuracy alone is misleading for imbalanced multi‑label data.</a:t>
            </a:r>
          </a:p>
          <a:p>
            <a:r>
              <a:rPr lang="en-US" dirty="0"/>
              <a:t>Metrics used:</a:t>
            </a:r>
          </a:p>
          <a:p>
            <a:pPr lvl="1"/>
            <a:r>
              <a:rPr lang="en-US" dirty="0"/>
              <a:t>Binary accuracy.</a:t>
            </a:r>
          </a:p>
          <a:p>
            <a:pPr lvl="1"/>
            <a:r>
              <a:rPr lang="en-US" dirty="0"/>
              <a:t>Per‑class and macro AUC‑ROC.</a:t>
            </a:r>
          </a:p>
          <a:p>
            <a:pPr lvl="1"/>
            <a:r>
              <a:rPr lang="en-US" dirty="0"/>
              <a:t>Precision, recall, F1‑score.</a:t>
            </a:r>
          </a:p>
          <a:p>
            <a:pPr lvl="1"/>
            <a:r>
              <a:rPr lang="en-US" dirty="0"/>
              <a:t>Per‑class threshold tuning to </a:t>
            </a:r>
            <a:r>
              <a:rPr lang="en-US" dirty="0" err="1"/>
              <a:t>maximise</a:t>
            </a:r>
            <a:r>
              <a:rPr lang="en-US" dirty="0"/>
              <a:t> F1.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1154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322A-E7B3-69CA-9F92-68FFCFED5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Code where you compute AUC and F1 with </a:t>
            </a:r>
            <a:r>
              <a:rPr lang="en-US" b="1" u="sng" dirty="0" err="1"/>
              <a:t>sklearn</a:t>
            </a:r>
            <a:r>
              <a:rPr lang="en-US" b="1" u="sng" dirty="0"/>
              <a:t>.</a:t>
            </a:r>
            <a:endParaRPr lang="en-IN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9A6371-E7A4-F743-269F-2C37A6166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2222090"/>
            <a:ext cx="9903542" cy="433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274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2275E-7D9B-8BE4-61EA-D253A6426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Quantitative Results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B480-1728-A46E-A300-CCC7F2187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363795"/>
            <a:ext cx="10131425" cy="5397908"/>
          </a:xfrm>
        </p:spPr>
        <p:txBody>
          <a:bodyPr/>
          <a:lstStyle/>
          <a:p>
            <a:r>
              <a:rPr lang="en-IN" dirty="0"/>
              <a:t>Final DenseNet‑121 model (train‑small):</a:t>
            </a:r>
          </a:p>
          <a:p>
            <a:pPr lvl="1"/>
            <a:r>
              <a:rPr lang="en-IN" dirty="0"/>
              <a:t>Test binary accuracy: ≈ 76%.</a:t>
            </a:r>
          </a:p>
          <a:p>
            <a:pPr lvl="1"/>
            <a:r>
              <a:rPr lang="en-IN" dirty="0"/>
              <a:t>Macro AUC: ≈ 0.60.</a:t>
            </a:r>
          </a:p>
          <a:p>
            <a:pPr lvl="1"/>
            <a:r>
              <a:rPr lang="en-IN" dirty="0"/>
              <a:t>Macro F1 @ threshold 0.5: ≈ 0.24.</a:t>
            </a:r>
          </a:p>
          <a:p>
            <a:pPr lvl="1"/>
            <a:r>
              <a:rPr lang="en-IN" dirty="0"/>
              <a:t>Macro F1 with per‑class thresholds: ≈ 0.29.</a:t>
            </a:r>
          </a:p>
          <a:p>
            <a:r>
              <a:rPr lang="en-IN" dirty="0"/>
              <a:t>Some classes (e.g. </a:t>
            </a:r>
            <a:r>
              <a:rPr lang="en-IN" dirty="0" err="1"/>
              <a:t>Edema</a:t>
            </a:r>
            <a:r>
              <a:rPr lang="en-IN" dirty="0"/>
              <a:t>, Pneumothorax) reach AUC ≈ 0.70.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888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92F9F-50BE-62E3-7994-98BB30242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metric printout (macro AUC, macro F1, maybe AUC per class).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FC91CE-0BD7-311B-35D4-D0BED9BDF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239" y="2261419"/>
            <a:ext cx="10131426" cy="421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723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7FE6-298D-4002-EB97-6D4860475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metric printout (macro AUC, macro F1, maybe AUC per class).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B54540-DEDF-C787-0DDC-D663CEC97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2241754"/>
            <a:ext cx="10375490" cy="426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319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0862F-7201-ECAC-CD4C-33F317FB2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Model Explainability – Grad‑CAM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64E48-7215-7874-150B-A70534E57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2882217"/>
          </a:xfrm>
        </p:spPr>
        <p:txBody>
          <a:bodyPr/>
          <a:lstStyle/>
          <a:p>
            <a:r>
              <a:rPr lang="en-US" dirty="0"/>
              <a:t>We used Grad‑CAM to </a:t>
            </a:r>
            <a:r>
              <a:rPr lang="en-US" dirty="0" err="1"/>
              <a:t>visualise</a:t>
            </a:r>
            <a:r>
              <a:rPr lang="en-US" dirty="0"/>
              <a:t> which regions of the X‑ray the model focuses on.</a:t>
            </a:r>
          </a:p>
          <a:p>
            <a:r>
              <a:rPr lang="en-US" dirty="0"/>
              <a:t>For each selected class (e.g. Cardiomegaly, Mass, Pneumothorax, Edema), we overlay a heatmap on the original image.</a:t>
            </a:r>
          </a:p>
          <a:p>
            <a:r>
              <a:rPr lang="en-US" dirty="0"/>
              <a:t>In many cases, the highlighted areas correspond to the expected anatomical regions (e.g. lung fields, heart area, suspicious mass).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7829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2222F-3144-6B23-2CF8-BED7E87EC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original X‑ray plus several Grad‑CAM heatmaps</a:t>
            </a:r>
            <a:endParaRPr lang="en-IN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E56181-561D-2506-DD8E-C3C3F6907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590" y="2231921"/>
            <a:ext cx="9725846" cy="426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882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BEF7-B40E-82AE-8281-5009E35D8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original X‑ray plus several Grad‑CAM heatmaps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C6108B-5043-2AA3-D085-3EE40BF26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41756"/>
            <a:ext cx="10131425" cy="428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955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2C0EC-E095-A154-A4EC-7591EC66E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Discussion &amp; Limitations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97B81-8B07-A88A-E53D-3E139EB59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855407"/>
            <a:ext cx="10131425" cy="4935794"/>
          </a:xfrm>
        </p:spPr>
        <p:txBody>
          <a:bodyPr/>
          <a:lstStyle/>
          <a:p>
            <a:r>
              <a:rPr lang="en-US" dirty="0"/>
              <a:t>Strengths:</a:t>
            </a:r>
          </a:p>
          <a:p>
            <a:pPr lvl="1"/>
            <a:r>
              <a:rPr lang="en-US" dirty="0"/>
              <a:t>Uses a strong CNN (DenseNet‑121) with transfer learning.</a:t>
            </a:r>
          </a:p>
          <a:p>
            <a:pPr lvl="1"/>
            <a:r>
              <a:rPr lang="en-US" dirty="0"/>
              <a:t>Handles multi‑label outputs (14 pathologies).</a:t>
            </a:r>
          </a:p>
          <a:p>
            <a:pPr lvl="1"/>
            <a:r>
              <a:rPr lang="en-US" dirty="0"/>
              <a:t>Class‑weighted loss + augmentation + early stopping.</a:t>
            </a:r>
          </a:p>
          <a:p>
            <a:r>
              <a:rPr lang="en-US" dirty="0"/>
              <a:t>Limitations:</a:t>
            </a:r>
          </a:p>
          <a:p>
            <a:pPr lvl="1"/>
            <a:r>
              <a:rPr lang="en-US" dirty="0"/>
              <a:t>Trained only on train‑small, not full 112k images.</a:t>
            </a:r>
          </a:p>
          <a:p>
            <a:pPr lvl="1"/>
            <a:r>
              <a:rPr lang="en-US" dirty="0"/>
              <a:t>Limited hyper‑parameter search, no ensembles.</a:t>
            </a:r>
          </a:p>
          <a:p>
            <a:pPr lvl="1"/>
            <a:r>
              <a:rPr lang="en-US" dirty="0"/>
              <a:t>Results not directly comparable to full‑dataset state‑of‑the‑art.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5793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2C924-7903-2363-85AA-5AEFE6154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Conclusion</a:t>
            </a:r>
            <a:r>
              <a:rPr lang="en-IN" dirty="0"/>
              <a:t> 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E32C5-D225-6C64-4980-14254FF5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-422787"/>
            <a:ext cx="10131425" cy="6213987"/>
          </a:xfrm>
        </p:spPr>
        <p:txBody>
          <a:bodyPr/>
          <a:lstStyle/>
          <a:p>
            <a:r>
              <a:rPr lang="en-US" dirty="0"/>
              <a:t>Achieved ~76% accuracy with reasonable AUC/F1 under resource constraints.</a:t>
            </a:r>
          </a:p>
          <a:p>
            <a:r>
              <a:rPr lang="en-US" dirty="0"/>
              <a:t>Showed importance of:</a:t>
            </a:r>
          </a:p>
          <a:p>
            <a:pPr lvl="1"/>
            <a:r>
              <a:rPr lang="en-US" dirty="0"/>
              <a:t>Data augmentation and training duration.</a:t>
            </a:r>
          </a:p>
          <a:p>
            <a:pPr lvl="1"/>
            <a:r>
              <a:rPr lang="en-US" dirty="0"/>
              <a:t>Class weighting and threshold tuning.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72382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{13FABFB9-53AF-4F17-BE33-1AEFE0A9A720}tf03457452</Template>
  <TotalTime>84</TotalTime>
  <Words>763</Words>
  <Application>Microsoft Office PowerPoint</Application>
  <PresentationFormat>Widescreen</PresentationFormat>
  <Paragraphs>81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Celestial</vt:lpstr>
      <vt:lpstr>Chest X‑Ray Disease Classification using Deep Learning</vt:lpstr>
      <vt:lpstr>MOTIVATION</vt:lpstr>
      <vt:lpstr>Dataset: ChestX‑ray14 </vt:lpstr>
      <vt:lpstr>train_df.head() showing Image + a few label columns</vt:lpstr>
      <vt:lpstr>Project Objective </vt:lpstr>
      <vt:lpstr>Model Architecture (DenseNet‑121) </vt:lpstr>
      <vt:lpstr>model.summary() showing DenseNet‑121 and final dense(14) layer.</vt:lpstr>
      <vt:lpstr>Training Setup </vt:lpstr>
      <vt:lpstr>Code snippet where you compile the model (loss/optimizer/metrics).</vt:lpstr>
      <vt:lpstr> Data Augmentation </vt:lpstr>
      <vt:lpstr>ImageDataGenerator in get_train_generator</vt:lpstr>
      <vt:lpstr>Training Process &amp; Improvements </vt:lpstr>
      <vt:lpstr>accuracy_improvements.png</vt:lpstr>
      <vt:lpstr>Training log snippet or accuracy/loss plot for final run</vt:lpstr>
      <vt:lpstr>Evaluation Metrics </vt:lpstr>
      <vt:lpstr>Code where you compute AUC and F1 with sklearn.</vt:lpstr>
      <vt:lpstr>Quantitative Results </vt:lpstr>
      <vt:lpstr>Final metric printout (macro AUC, macro F1, maybe AUC per class).</vt:lpstr>
      <vt:lpstr>Final metric printout (macro AUC, macro F1, maybe AUC per class).</vt:lpstr>
      <vt:lpstr>Model Explainability – Grad‑CAM</vt:lpstr>
      <vt:lpstr>original X‑ray plus several Grad‑CAM heatmaps</vt:lpstr>
      <vt:lpstr>original X‑ray plus several Grad‑CAM heatmaps</vt:lpstr>
      <vt:lpstr>Discussion &amp; Limitations </vt:lpstr>
      <vt:lpstr>Conclusion 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Sayali Lohokare</dc:creator>
  <cp:lastModifiedBy>Sayali Lohokare</cp:lastModifiedBy>
  <cp:revision>3</cp:revision>
  <dcterms:created xsi:type="dcterms:W3CDTF">2025-12-04T19:26:29Z</dcterms:created>
  <dcterms:modified xsi:type="dcterms:W3CDTF">2025-12-05T09:20:37Z</dcterms:modified>
</cp:coreProperties>
</file>